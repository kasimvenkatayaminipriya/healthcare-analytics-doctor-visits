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2" r:id="rId13"/>
    <p:sldId id="343" r:id="rId14"/>
    <p:sldId id="344"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91"/>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10/22/2026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10/22/2026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10/22/2026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976466" y="3429001"/>
            <a:ext cx="8567642" cy="2762250"/>
          </a:xfrm>
        </p:spPr>
        <p:txBody>
          <a:bodyPr/>
          <a:lstStyle/>
          <a:p>
            <a:pPr algn="r"/>
            <a:r>
              <a:rPr lang="en-US" b="0" dirty="0">
                <a:solidFill>
                  <a:schemeClr val="tx1"/>
                </a:solidFill>
              </a:rPr>
              <a:t>Student Name – Kasim Venkata Yamini Priya</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95275" y="2575249"/>
            <a:ext cx="11016317" cy="531844"/>
          </a:xfrm>
        </p:spPr>
        <p:txBody>
          <a:bodyPr>
            <a:normAutofit fontScale="90000"/>
          </a:bodyPr>
          <a:lstStyle/>
          <a:p>
            <a:r>
              <a:rPr lang="en-GB" sz="3200" dirty="0"/>
              <a:t>Project Title -</a:t>
            </a:r>
            <a:r>
              <a:rPr lang="en-US" sz="3200" dirty="0"/>
              <a:t> Healthcare Analytics For Doctor Visit TIRTC</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3" name="Rectangle 1">
            <a:extLst>
              <a:ext uri="{FF2B5EF4-FFF2-40B4-BE49-F238E27FC236}">
                <a16:creationId xmlns:a16="http://schemas.microsoft.com/office/drawing/2014/main" id="{99E935BF-9FCD-989D-0E62-707D290A5C1C}"/>
              </a:ext>
            </a:extLst>
          </p:cNvPr>
          <p:cNvSpPr>
            <a:spLocks noGrp="1" noChangeArrowheads="1"/>
          </p:cNvSpPr>
          <p:nvPr>
            <p:ph type="body" sz="quarter" idx="12"/>
          </p:nvPr>
        </p:nvSpPr>
        <p:spPr bwMode="auto">
          <a:xfrm>
            <a:off x="1046162" y="2088265"/>
            <a:ext cx="759398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Healthcare organizations need to understand patterns in doctor visits to support effective healthcare planning.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This project analyses healthcare data to identify patterns in doctor visits and examine their association with gender, illness levels, chronic conditions, and reduced activity.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main objective is to use Python-based data analysis and visuali</a:t>
            </a:r>
            <a:r>
              <a:rPr lang="en-US" altLang="en-US" sz="1800" dirty="0">
                <a:solidFill>
                  <a:schemeClr val="tx1"/>
                </a:solidFill>
                <a:latin typeface="Arial" panose="020B0604020202020204" pitchFamily="34" charset="0"/>
              </a:rPr>
              <a:t>z</a:t>
            </a:r>
            <a:r>
              <a:rPr kumimoji="0" lang="en-US" altLang="en-US" sz="1800" b="0" i="0" u="none" strike="noStrike" cap="none" normalizeH="0" baseline="0" dirty="0">
                <a:ln>
                  <a:noFill/>
                </a:ln>
                <a:solidFill>
                  <a:schemeClr val="tx1"/>
                </a:solidFill>
                <a:effectLst/>
                <a:latin typeface="Arial" panose="020B0604020202020204" pitchFamily="34" charset="0"/>
              </a:rPr>
              <a:t>ation to discover meaningful insights from healthcare data.</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193040"/>
            <a:ext cx="6276109" cy="1262537"/>
          </a:xfrm>
        </p:spPr>
        <p:txBody>
          <a:bodyPr>
            <a:normAutofit fontScale="90000"/>
          </a:bodyPr>
          <a:lstStyle/>
          <a:p>
            <a:r>
              <a:rPr lang="en-GB" dirty="0"/>
              <a:t>Project Description</a:t>
            </a:r>
            <a:br>
              <a:rPr lang="en-GB" dirty="0"/>
            </a:br>
            <a:br>
              <a:rPr lang="en-US" sz="2000" b="0" dirty="0">
                <a:latin typeface="Arial" panose="020B0604020202020204" pitchFamily="34" charset="0"/>
                <a:cs typeface="Arial" panose="020B0604020202020204" pitchFamily="34" charset="0"/>
              </a:rPr>
            </a:br>
            <a:r>
              <a:rPr lang="en-US" sz="2000" b="0" dirty="0"/>
              <a:t>This project analyses healthcare data to understand patterns in recorded doctor visits. The cleaned dataset contains 5,190 records and 12 columns. Python libraries are used for data cleaning, exploratory data analysis (EDA), statistical summaries, and </a:t>
            </a:r>
            <a:r>
              <a:rPr lang="en-US" sz="2000" b="0" dirty="0" err="1"/>
              <a:t>visualisation</a:t>
            </a:r>
            <a:r>
              <a:rPr lang="en-US" sz="2000" b="0" dirty="0"/>
              <a:t>.</a:t>
            </a:r>
            <a:br>
              <a:rPr lang="en-US" sz="2000" b="0" dirty="0"/>
            </a:br>
            <a:br>
              <a:rPr lang="en-US" sz="2000" b="0" dirty="0"/>
            </a:br>
            <a:r>
              <a:rPr lang="en-US" sz="2000" b="0" dirty="0"/>
              <a:t>Project objective:</a:t>
            </a:r>
            <a:br>
              <a:rPr lang="en-US" sz="2000" b="0" dirty="0"/>
            </a:br>
            <a:r>
              <a:rPr lang="en-US" sz="4900" b="0" dirty="0"/>
              <a:t>.</a:t>
            </a:r>
            <a:r>
              <a:rPr lang="en-US" sz="2000" dirty="0"/>
              <a:t> </a:t>
            </a:r>
            <a:r>
              <a:rPr lang="en-US" sz="2000" b="0" dirty="0">
                <a:latin typeface="Arial" panose="020B0604020202020204" pitchFamily="34" charset="0"/>
                <a:cs typeface="Arial" panose="020B0604020202020204" pitchFamily="34" charset="0"/>
              </a:rPr>
              <a:t>Understand the structure and characteristics of the dataset.</a:t>
            </a:r>
            <a:br>
              <a:rPr lang="en-US" sz="2000" b="0" dirty="0">
                <a:latin typeface="Arial" panose="020B0604020202020204" pitchFamily="34" charset="0"/>
                <a:cs typeface="Arial" panose="020B0604020202020204" pitchFamily="34" charset="0"/>
              </a:rPr>
            </a:br>
            <a:r>
              <a:rPr lang="en-US" sz="4900" b="0" dirty="0"/>
              <a:t>.</a:t>
            </a:r>
            <a:r>
              <a:rPr lang="en-US" sz="2000" dirty="0"/>
              <a:t> </a:t>
            </a:r>
            <a:r>
              <a:rPr lang="en-US" sz="2000" b="0"/>
              <a:t>Analyse</a:t>
            </a:r>
            <a:r>
              <a:rPr lang="en-US" sz="2000" b="0" dirty="0"/>
              <a:t> the distribution of recorded doctor visits</a:t>
            </a:r>
            <a:r>
              <a:rPr lang="en-US" sz="2000" dirty="0"/>
              <a:t>.</a:t>
            </a:r>
            <a:br>
              <a:rPr lang="en-US" sz="2000" dirty="0"/>
            </a:br>
            <a:r>
              <a:rPr lang="en-US" sz="4900" dirty="0"/>
              <a:t>.</a:t>
            </a:r>
            <a:r>
              <a:rPr lang="en-US" sz="2000" dirty="0"/>
              <a:t> </a:t>
            </a:r>
            <a:r>
              <a:rPr lang="en-US" sz="2000" b="0" dirty="0"/>
              <a:t>Compare visit patterns across gender and illness levels.</a:t>
            </a:r>
            <a:br>
              <a:rPr lang="en-US" sz="2000" b="0" dirty="0"/>
            </a:br>
            <a:r>
              <a:rPr lang="en-US" sz="4900" b="0" dirty="0"/>
              <a:t>.</a:t>
            </a:r>
            <a:r>
              <a:rPr lang="en-US" sz="2000" dirty="0"/>
              <a:t> </a:t>
            </a:r>
            <a:r>
              <a:rPr lang="en-US" sz="2000" b="0" dirty="0"/>
              <a:t>Examine associations with chronic conditions and reduced activity.</a:t>
            </a:r>
            <a:br>
              <a:rPr lang="en-US" sz="2000" dirty="0"/>
            </a:br>
            <a:br>
              <a:rPr lang="en-US" sz="2000" b="0" dirty="0"/>
            </a:br>
            <a:br>
              <a:rPr lang="en-US" sz="2000" b="0" dirty="0"/>
            </a:br>
            <a:br>
              <a:rPr lang="en-US" sz="2000" b="0" dirty="0"/>
            </a:br>
            <a:br>
              <a:rPr lang="en-US" sz="2000" dirty="0"/>
            </a:br>
            <a:br>
              <a:rPr lang="en-US" sz="2000" b="0" dirty="0">
                <a:latin typeface="Arial" panose="020B0604020202020204" pitchFamily="34" charset="0"/>
                <a:cs typeface="Arial" panose="020B0604020202020204" pitchFamily="34" charset="0"/>
              </a:rPr>
            </a:br>
            <a:br>
              <a:rPr lang="en-US" sz="2000" b="0" dirty="0">
                <a:latin typeface="Arial" panose="020B0604020202020204" pitchFamily="34" charset="0"/>
                <a:cs typeface="Arial" panose="020B0604020202020204" pitchFamily="34" charset="0"/>
              </a:rPr>
            </a:br>
            <a:br>
              <a:rPr lang="en-US" sz="2000" b="0" dirty="0"/>
            </a:br>
            <a:br>
              <a:rPr lang="en-US" sz="2000" b="0" dirty="0"/>
            </a:br>
            <a:br>
              <a:rPr lang="en-US" sz="2000" b="0" dirty="0"/>
            </a:br>
            <a:br>
              <a:rPr lang="en-US" sz="2000" b="0" dirty="0"/>
            </a:br>
            <a:br>
              <a:rPr lang="en-US" sz="2000" b="0" dirty="0">
                <a:latin typeface="Arial" panose="020B0604020202020204" pitchFamily="34" charset="0"/>
                <a:cs typeface="Arial" panose="020B0604020202020204" pitchFamily="34" charset="0"/>
              </a:rPr>
            </a:br>
            <a:br>
              <a:rPr lang="en-US" sz="2000" b="0" dirty="0">
                <a:latin typeface="Arial" panose="020B0604020202020204" pitchFamily="34" charset="0"/>
                <a:cs typeface="Arial" panose="020B0604020202020204" pitchFamily="34" charset="0"/>
              </a:rPr>
            </a:br>
            <a:br>
              <a:rPr lang="en-GB" sz="2000" dirty="0"/>
            </a:br>
            <a:endParaRPr lang="en-IN" sz="2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92500" lnSpcReduction="10000"/>
          </a:bodyPr>
          <a:lstStyle/>
          <a:p>
            <a:r>
              <a:rPr lang="en-US" sz="2600" b="1" dirty="0">
                <a:latin typeface="Arial" panose="020B0604020202020204" pitchFamily="34" charset="0"/>
                <a:cs typeface="Arial" panose="020B0604020202020204" pitchFamily="34" charset="0"/>
              </a:rPr>
              <a:t>Hospitals and Clinics:</a:t>
            </a:r>
            <a:r>
              <a:rPr lang="en-US" sz="2600" dirty="0">
                <a:latin typeface="Arial" panose="020B0604020202020204" pitchFamily="34" charset="0"/>
                <a:cs typeface="Arial" panose="020B0604020202020204" pitchFamily="34" charset="0"/>
              </a:rPr>
              <a:t> To understand patient doctor-visit patterns.</a:t>
            </a:r>
          </a:p>
          <a:p>
            <a:r>
              <a:rPr lang="en-US" sz="2600" b="1" dirty="0">
                <a:latin typeface="Arial" panose="020B0604020202020204" pitchFamily="34" charset="0"/>
                <a:cs typeface="Arial" panose="020B0604020202020204" pitchFamily="34" charset="0"/>
              </a:rPr>
              <a:t>Healthcare Administrators:</a:t>
            </a:r>
            <a:r>
              <a:rPr lang="en-US" sz="2600" dirty="0">
                <a:latin typeface="Arial" panose="020B0604020202020204" pitchFamily="34" charset="0"/>
                <a:cs typeface="Arial" panose="020B0604020202020204" pitchFamily="34" charset="0"/>
              </a:rPr>
              <a:t> To support healthcare service planning.</a:t>
            </a:r>
          </a:p>
          <a:p>
            <a:r>
              <a:rPr lang="en-US" sz="2600" b="1" dirty="0">
                <a:latin typeface="Arial" panose="020B0604020202020204" pitchFamily="34" charset="0"/>
                <a:cs typeface="Arial" panose="020B0604020202020204" pitchFamily="34" charset="0"/>
              </a:rPr>
              <a:t>Healthcare Researchers:</a:t>
            </a:r>
            <a:r>
              <a:rPr lang="en-US" sz="2600" dirty="0">
                <a:latin typeface="Arial" panose="020B0604020202020204" pitchFamily="34" charset="0"/>
                <a:cs typeface="Arial" panose="020B0604020202020204" pitchFamily="34" charset="0"/>
              </a:rPr>
              <a:t> To study healthcare </a:t>
            </a:r>
            <a:r>
              <a:rPr lang="en-US" sz="2600" dirty="0" err="1">
                <a:latin typeface="Arial" panose="020B0604020202020204" pitchFamily="34" charset="0"/>
                <a:cs typeface="Arial" panose="020B0604020202020204" pitchFamily="34" charset="0"/>
              </a:rPr>
              <a:t>utilisation</a:t>
            </a:r>
            <a:r>
              <a:rPr lang="en-US" sz="2600" dirty="0">
                <a:latin typeface="Arial" panose="020B0604020202020204" pitchFamily="34" charset="0"/>
                <a:cs typeface="Arial" panose="020B0604020202020204" pitchFamily="34" charset="0"/>
              </a:rPr>
              <a:t> patterns.</a:t>
            </a:r>
          </a:p>
          <a:p>
            <a:r>
              <a:rPr lang="en-US" sz="2600" b="1" dirty="0">
                <a:latin typeface="Arial" panose="020B0604020202020204" pitchFamily="34" charset="0"/>
                <a:cs typeface="Arial" panose="020B0604020202020204" pitchFamily="34" charset="0"/>
              </a:rPr>
              <a:t>Public Health Planners:</a:t>
            </a:r>
            <a:r>
              <a:rPr lang="en-US" sz="2600" dirty="0">
                <a:latin typeface="Arial" panose="020B0604020202020204" pitchFamily="34" charset="0"/>
                <a:cs typeface="Arial" panose="020B0604020202020204" pitchFamily="34" charset="0"/>
              </a:rPr>
              <a:t> To identify areas for further investigation.</a:t>
            </a:r>
          </a:p>
          <a:p>
            <a:r>
              <a:rPr lang="en-US" sz="2600" b="1" dirty="0">
                <a:latin typeface="Arial" panose="020B0604020202020204" pitchFamily="34" charset="0"/>
                <a:cs typeface="Arial" panose="020B0604020202020204" pitchFamily="34" charset="0"/>
              </a:rPr>
              <a:t>Data Analysts:</a:t>
            </a:r>
            <a:r>
              <a:rPr lang="en-US" sz="2600" dirty="0">
                <a:latin typeface="Arial" panose="020B0604020202020204" pitchFamily="34" charset="0"/>
                <a:cs typeface="Arial" panose="020B0604020202020204" pitchFamily="34" charset="0"/>
              </a:rPr>
              <a:t> To </a:t>
            </a:r>
            <a:r>
              <a:rPr lang="en-US" sz="2600" dirty="0" err="1">
                <a:latin typeface="Arial" panose="020B0604020202020204" pitchFamily="34" charset="0"/>
                <a:cs typeface="Arial" panose="020B0604020202020204" pitchFamily="34" charset="0"/>
              </a:rPr>
              <a:t>analyse</a:t>
            </a:r>
            <a:r>
              <a:rPr lang="en-US" sz="2600" dirty="0">
                <a:latin typeface="Arial" panose="020B0604020202020204" pitchFamily="34" charset="0"/>
                <a:cs typeface="Arial" panose="020B0604020202020204" pitchFamily="34" charset="0"/>
              </a:rPr>
              <a:t> healthcare data and identify useful insights.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C32278B1-5CB2-A4DE-30C6-654B2194AFC7}"/>
              </a:ext>
            </a:extLst>
          </p:cNvPr>
          <p:cNvSpPr>
            <a:spLocks noGrp="1" noChangeArrowheads="1"/>
          </p:cNvSpPr>
          <p:nvPr>
            <p:ph type="body" sz="quarter" idx="12"/>
          </p:nvPr>
        </p:nvSpPr>
        <p:spPr bwMode="auto">
          <a:xfrm>
            <a:off x="1595534" y="1278384"/>
            <a:ext cx="6997959" cy="5524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b="1" dirty="0">
                <a:latin typeface="Arial" panose="020B0604020202020204" pitchFamily="34" charset="0"/>
                <a:cs typeface="Arial" panose="020B0604020202020204" pitchFamily="34" charset="0"/>
              </a:rPr>
              <a:t>Programming Language</a:t>
            </a:r>
            <a:endParaRPr lang="en-IN" sz="1800" dirty="0">
              <a:latin typeface="Arial" panose="020B0604020202020204" pitchFamily="34" charset="0"/>
              <a:cs typeface="Arial" panose="020B0604020202020204" pitchFamily="34" charset="0"/>
            </a:endParaRPr>
          </a:p>
          <a:p>
            <a:pPr marL="0" indent="0">
              <a:buNone/>
            </a:pPr>
            <a:r>
              <a:rPr lang="en-IN" sz="1800" dirty="0">
                <a:latin typeface="Arial" panose="020B0604020202020204" pitchFamily="34" charset="0"/>
                <a:cs typeface="Arial" panose="020B0604020202020204" pitchFamily="34" charset="0"/>
              </a:rPr>
              <a:t>      Python</a:t>
            </a:r>
          </a:p>
          <a:p>
            <a:r>
              <a:rPr lang="en-IN" sz="1800" b="1" dirty="0">
                <a:latin typeface="Arial" panose="020B0604020202020204" pitchFamily="34" charset="0"/>
                <a:cs typeface="Arial" panose="020B0604020202020204" pitchFamily="34" charset="0"/>
              </a:rPr>
              <a:t>Libraries</a:t>
            </a:r>
            <a:endParaRPr lang="en-IN" sz="1800" dirty="0">
              <a:latin typeface="Arial" panose="020B0604020202020204" pitchFamily="34" charset="0"/>
              <a:cs typeface="Arial" panose="020B0604020202020204" pitchFamily="34" charset="0"/>
            </a:endParaRPr>
          </a:p>
          <a:p>
            <a:pPr marL="0" indent="0">
              <a:buNone/>
            </a:pPr>
            <a:r>
              <a:rPr lang="en-IN" sz="1800" dirty="0">
                <a:latin typeface="Arial" panose="020B0604020202020204" pitchFamily="34" charset="0"/>
                <a:cs typeface="Arial" panose="020B0604020202020204" pitchFamily="34" charset="0"/>
              </a:rPr>
              <a:t>     Pandas — Data cleaning and data manipulation</a:t>
            </a:r>
          </a:p>
          <a:p>
            <a:pPr marL="0" indent="0">
              <a:buNone/>
            </a:pPr>
            <a:r>
              <a:rPr lang="en-IN" sz="1800" dirty="0">
                <a:latin typeface="Arial" panose="020B0604020202020204" pitchFamily="34" charset="0"/>
                <a:cs typeface="Arial" panose="020B0604020202020204" pitchFamily="34" charset="0"/>
              </a:rPr>
              <a:t>      NumPy — Numerical calculations</a:t>
            </a:r>
          </a:p>
          <a:p>
            <a:pPr marL="0" indent="0">
              <a:buNone/>
            </a:pPr>
            <a:r>
              <a:rPr lang="en-IN" sz="1800" dirty="0">
                <a:latin typeface="Arial" panose="020B0604020202020204" pitchFamily="34" charset="0"/>
                <a:cs typeface="Arial" panose="020B0604020202020204" pitchFamily="34" charset="0"/>
              </a:rPr>
              <a:t>      Matplotlib — Creating charts and graphs</a:t>
            </a:r>
          </a:p>
          <a:p>
            <a:pPr marL="0" indent="0">
              <a:buNone/>
            </a:pPr>
            <a:r>
              <a:rPr lang="en-IN" sz="1800" dirty="0">
                <a:latin typeface="Arial" panose="020B0604020202020204" pitchFamily="34" charset="0"/>
                <a:cs typeface="Arial" panose="020B0604020202020204" pitchFamily="34" charset="0"/>
              </a:rPr>
              <a:t>      Seaborn — Statistical data visualisation</a:t>
            </a:r>
          </a:p>
          <a:p>
            <a:r>
              <a:rPr lang="en-IN" sz="1800" b="1" dirty="0">
                <a:latin typeface="Arial" panose="020B0604020202020204" pitchFamily="34" charset="0"/>
                <a:cs typeface="Arial" panose="020B0604020202020204" pitchFamily="34" charset="0"/>
              </a:rPr>
              <a:t>Tools and Techniques</a:t>
            </a:r>
            <a:endParaRPr lang="en-IN" sz="1800" dirty="0">
              <a:latin typeface="Arial" panose="020B0604020202020204" pitchFamily="34" charset="0"/>
              <a:cs typeface="Arial" panose="020B0604020202020204" pitchFamily="34" charset="0"/>
            </a:endParaRPr>
          </a:p>
          <a:p>
            <a:pPr marL="0" indent="0">
              <a:buNone/>
            </a:pPr>
            <a:r>
              <a:rPr lang="en-IN" sz="1800" dirty="0">
                <a:latin typeface="Arial" panose="020B0604020202020204" pitchFamily="34" charset="0"/>
                <a:cs typeface="Arial" panose="020B0604020202020204" pitchFamily="34" charset="0"/>
              </a:rPr>
              <a:t>       </a:t>
            </a:r>
            <a:r>
              <a:rPr lang="en-IN" sz="1800" dirty="0" err="1">
                <a:latin typeface="Arial" panose="020B0604020202020204" pitchFamily="34" charset="0"/>
                <a:cs typeface="Arial" panose="020B0604020202020204" pitchFamily="34" charset="0"/>
              </a:rPr>
              <a:t>Jupyter</a:t>
            </a:r>
            <a:r>
              <a:rPr lang="en-IN" sz="1800" dirty="0">
                <a:latin typeface="Arial" panose="020B0604020202020204" pitchFamily="34" charset="0"/>
                <a:cs typeface="Arial" panose="020B0604020202020204" pitchFamily="34" charset="0"/>
              </a:rPr>
              <a:t> Notebook</a:t>
            </a:r>
          </a:p>
          <a:p>
            <a:pPr marL="0" indent="0">
              <a:buNone/>
            </a:pPr>
            <a:r>
              <a:rPr lang="en-IN" sz="1800" dirty="0">
                <a:latin typeface="Arial" panose="020B0604020202020204" pitchFamily="34" charset="0"/>
                <a:cs typeface="Arial" panose="020B0604020202020204" pitchFamily="34" charset="0"/>
              </a:rPr>
              <a:t>       Exploratory Data Analysis (EDA)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275372"/>
            <a:ext cx="9195252" cy="5468786"/>
          </a:xfrm>
        </p:spPr>
        <p:txBody>
          <a:bodyPr/>
          <a:lstStyle/>
          <a:p>
            <a:pPr marL="0" indent="0">
              <a:buNone/>
            </a:pPr>
            <a:r>
              <a:rPr lang="en-IN" b="1" dirty="0"/>
              <a:t>Chart1- Gender Analysis</a:t>
            </a:r>
          </a:p>
          <a:p>
            <a:pPr marL="0" indent="0">
              <a:buNone/>
            </a:pPr>
            <a:r>
              <a:rPr lang="en-IN" b="1" dirty="0"/>
              <a:t>Interpretation</a:t>
            </a:r>
            <a:r>
              <a:rPr lang="en-IN" dirty="0"/>
              <a:t>:</a:t>
            </a:r>
            <a:r>
              <a:rPr lang="en-US" dirty="0"/>
              <a:t> Female records have a higher average number of recorded doctor visits than male records in this dataset. Female records also account for a larger share of the total recorded visits; this association does not establish causation. </a:t>
            </a:r>
          </a:p>
          <a:p>
            <a:pPr marL="0" indent="0">
              <a:buNone/>
            </a:pPr>
            <a:r>
              <a:rPr lang="en-IN" b="1" dirty="0"/>
              <a:t>Key findings</a:t>
            </a:r>
            <a:r>
              <a:rPr lang="en-IN" dirty="0"/>
              <a:t>: </a:t>
            </a:r>
          </a:p>
          <a:p>
            <a:r>
              <a:rPr lang="en-US" dirty="0"/>
              <a:t>Average visits: female 0.36; male 0.24.</a:t>
            </a:r>
          </a:p>
          <a:p>
            <a:r>
              <a:rPr lang="en-US" dirty="0"/>
              <a:t>Total visits: female 978 (62.45%); male 588 (37.55%).</a:t>
            </a:r>
            <a:endParaRPr lang="en-IN" dirty="0"/>
          </a:p>
          <a:p>
            <a:pPr marL="0" indent="0">
              <a:buNone/>
            </a:pPr>
            <a:endParaRPr lang="en-IN" dirty="0"/>
          </a:p>
          <a:p>
            <a:pPr marL="0" indent="0">
              <a:buNone/>
            </a:pPr>
            <a:endParaRPr lang="en-IN" dirty="0"/>
          </a:p>
        </p:txBody>
      </p:sp>
      <p:pic>
        <p:nvPicPr>
          <p:cNvPr id="11" name="Picture 10">
            <a:extLst>
              <a:ext uri="{FF2B5EF4-FFF2-40B4-BE49-F238E27FC236}">
                <a16:creationId xmlns:a16="http://schemas.microsoft.com/office/drawing/2014/main" id="{956240E4-F4C1-D24E-4F96-FF0595E2B3F7}"/>
              </a:ext>
            </a:extLst>
          </p:cNvPr>
          <p:cNvPicPr>
            <a:picLocks noChangeAspect="1"/>
          </p:cNvPicPr>
          <p:nvPr/>
        </p:nvPicPr>
        <p:blipFill>
          <a:blip r:embed="rId3"/>
          <a:stretch>
            <a:fillRect/>
          </a:stretch>
        </p:blipFill>
        <p:spPr>
          <a:xfrm>
            <a:off x="2080727" y="4553339"/>
            <a:ext cx="5402424" cy="219081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2D031-04BA-C0BD-9399-F4B2B2128E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4A7316F-0171-C5F9-B3B0-15768100395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86516BB-39F9-0647-5EFD-035634BF3A3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1C41C01-196B-B8EC-049E-E2213DC12AF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B2CED8E-6D29-518C-D1F5-74C1C86200F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5C042B1-281B-09B0-8046-C006D207D4AA}"/>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sp>
        <p:nvSpPr>
          <p:cNvPr id="10" name="Text Placeholder 1">
            <a:extLst>
              <a:ext uri="{FF2B5EF4-FFF2-40B4-BE49-F238E27FC236}">
                <a16:creationId xmlns:a16="http://schemas.microsoft.com/office/drawing/2014/main" id="{2F734C33-7E7B-E045-9EE4-6F942004B2BC}"/>
              </a:ext>
            </a:extLst>
          </p:cNvPr>
          <p:cNvSpPr>
            <a:spLocks noGrp="1"/>
          </p:cNvSpPr>
          <p:nvPr>
            <p:ph type="body" sz="quarter" idx="12"/>
          </p:nvPr>
        </p:nvSpPr>
        <p:spPr>
          <a:xfrm>
            <a:off x="807164" y="1275371"/>
            <a:ext cx="9195252" cy="5507984"/>
          </a:xfrm>
        </p:spPr>
        <p:txBody>
          <a:bodyPr/>
          <a:lstStyle/>
          <a:p>
            <a:pPr marL="0" indent="0">
              <a:buNone/>
            </a:pPr>
            <a:r>
              <a:rPr lang="en-IN" b="1" dirty="0"/>
              <a:t>Chart2- Illness Level Analysis </a:t>
            </a:r>
          </a:p>
          <a:p>
            <a:pPr marL="0" indent="0">
              <a:buNone/>
            </a:pPr>
            <a:r>
              <a:rPr lang="en-IN" b="1" dirty="0"/>
              <a:t>Interpretation</a:t>
            </a:r>
            <a:r>
              <a:rPr lang="en-IN" dirty="0"/>
              <a:t>:</a:t>
            </a:r>
            <a:r>
              <a:rPr lang="en-US" dirty="0"/>
              <a:t> Average recorded doctor visits generally increase across the recorded illness levels, rising from 0.08 at level 0 to 0.81 at level 5.</a:t>
            </a:r>
          </a:p>
          <a:p>
            <a:pPr marL="0" indent="0">
              <a:buNone/>
            </a:pPr>
            <a:r>
              <a:rPr lang="en-IN" b="1" dirty="0"/>
              <a:t>Key findings</a:t>
            </a:r>
            <a:r>
              <a:rPr lang="en-IN" dirty="0"/>
              <a:t>:</a:t>
            </a:r>
            <a:r>
              <a:rPr lang="en-US" dirty="0"/>
              <a:t> </a:t>
            </a:r>
          </a:p>
          <a:p>
            <a:r>
              <a:rPr lang="en-US" dirty="0"/>
              <a:t>Illness level 0: 0.08 average visits.</a:t>
            </a:r>
          </a:p>
          <a:p>
            <a:r>
              <a:rPr lang="en-US" dirty="0"/>
              <a:t>Illness level 5: 0.81 average visits.</a:t>
            </a:r>
          </a:p>
          <a:p>
            <a:pPr marL="0" indent="0">
              <a:buNone/>
            </a:pPr>
            <a:endParaRPr lang="en-US" dirty="0"/>
          </a:p>
          <a:p>
            <a:endParaRPr lang="en-US" dirty="0"/>
          </a:p>
          <a:p>
            <a:endParaRPr lang="en-IN" dirty="0"/>
          </a:p>
        </p:txBody>
      </p:sp>
      <p:pic>
        <p:nvPicPr>
          <p:cNvPr id="6" name="Picture 5">
            <a:extLst>
              <a:ext uri="{FF2B5EF4-FFF2-40B4-BE49-F238E27FC236}">
                <a16:creationId xmlns:a16="http://schemas.microsoft.com/office/drawing/2014/main" id="{D9C77179-3722-10D8-6B69-34953816870E}"/>
              </a:ext>
            </a:extLst>
          </p:cNvPr>
          <p:cNvPicPr>
            <a:picLocks noChangeAspect="1"/>
          </p:cNvPicPr>
          <p:nvPr/>
        </p:nvPicPr>
        <p:blipFill>
          <a:blip r:embed="rId3"/>
          <a:stretch>
            <a:fillRect/>
          </a:stretch>
        </p:blipFill>
        <p:spPr>
          <a:xfrm>
            <a:off x="1547003" y="3741576"/>
            <a:ext cx="6142252" cy="3041779"/>
          </a:xfrm>
          <a:prstGeom prst="rect">
            <a:avLst/>
          </a:prstGeom>
        </p:spPr>
      </p:pic>
    </p:spTree>
    <p:extLst>
      <p:ext uri="{BB962C8B-B14F-4D97-AF65-F5344CB8AC3E}">
        <p14:creationId xmlns:p14="http://schemas.microsoft.com/office/powerpoint/2010/main" val="695223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FF6FB-AA58-1951-D226-8566B12CB4D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1F55208-2167-3CE7-95B7-F48993B09C1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0DE2E6B-176D-21F3-BCE0-B6CD7DBDABC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0392748-013F-2611-E518-77637044DAC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72DD2B9-F25A-1827-D61B-0CF296FF377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098FBBB8-A35A-06DC-6DBA-A823696381AF}"/>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sp>
        <p:nvSpPr>
          <p:cNvPr id="10" name="Text Placeholder 1">
            <a:extLst>
              <a:ext uri="{FF2B5EF4-FFF2-40B4-BE49-F238E27FC236}">
                <a16:creationId xmlns:a16="http://schemas.microsoft.com/office/drawing/2014/main" id="{C66E829E-A97C-A6FB-782D-D0CC3C651BF4}"/>
              </a:ext>
            </a:extLst>
          </p:cNvPr>
          <p:cNvSpPr>
            <a:spLocks noGrp="1"/>
          </p:cNvSpPr>
          <p:nvPr>
            <p:ph type="body" sz="quarter" idx="12"/>
          </p:nvPr>
        </p:nvSpPr>
        <p:spPr>
          <a:xfrm>
            <a:off x="675957" y="1413030"/>
            <a:ext cx="9699105" cy="5444969"/>
          </a:xfrm>
        </p:spPr>
        <p:txBody>
          <a:bodyPr/>
          <a:lstStyle/>
          <a:p>
            <a:pPr marL="0" indent="0">
              <a:buNone/>
            </a:pPr>
            <a:r>
              <a:rPr lang="en-IN" b="1" dirty="0"/>
              <a:t>Chart3-</a:t>
            </a:r>
            <a:r>
              <a:rPr lang="en-US" dirty="0"/>
              <a:t> </a:t>
            </a:r>
            <a:r>
              <a:rPr lang="en-US" b="1" dirty="0"/>
              <a:t>Doctor Visits by Chronic Condition Status</a:t>
            </a:r>
            <a:endParaRPr lang="en-IN" b="1" dirty="0"/>
          </a:p>
          <a:p>
            <a:pPr marL="0" indent="0">
              <a:buNone/>
            </a:pPr>
            <a:r>
              <a:rPr lang="en-IN" b="1" dirty="0"/>
              <a:t>Interpretation</a:t>
            </a:r>
            <a:r>
              <a:rPr lang="en-IN" dirty="0"/>
              <a:t>:</a:t>
            </a:r>
            <a:r>
              <a:rPr lang="en-US" dirty="0"/>
              <a:t> Records with chronic conditions show higher average doctor visits than records without them. The difference is larger for long-term chronic conditions. </a:t>
            </a:r>
          </a:p>
          <a:p>
            <a:pPr marL="0" indent="0">
              <a:buNone/>
            </a:pPr>
            <a:r>
              <a:rPr lang="en-IN" b="1" dirty="0"/>
              <a:t>Key findings</a:t>
            </a:r>
            <a:r>
              <a:rPr lang="en-IN" dirty="0"/>
              <a:t>:</a:t>
            </a:r>
          </a:p>
          <a:p>
            <a:r>
              <a:rPr lang="en-US" dirty="0"/>
              <a:t>Chronic conditions: 0.35 average visits versus 0.27 without.</a:t>
            </a:r>
          </a:p>
          <a:p>
            <a:r>
              <a:rPr lang="en-US" dirty="0"/>
              <a:t>Long-term chronic conditions: 0.60 average visits versus 0.26 without.</a:t>
            </a:r>
          </a:p>
          <a:p>
            <a:pPr marL="0" indent="0">
              <a:buNone/>
            </a:pPr>
            <a:endParaRPr lang="en-US" dirty="0"/>
          </a:p>
          <a:p>
            <a:pPr marL="0" indent="0">
              <a:buNone/>
            </a:pPr>
            <a:endParaRPr lang="en-IN" dirty="0"/>
          </a:p>
          <a:p>
            <a:pPr marL="0" indent="0">
              <a:buNone/>
            </a:pPr>
            <a:endParaRPr lang="en-IN" dirty="0"/>
          </a:p>
          <a:p>
            <a:pPr marL="0" indent="0">
              <a:buNone/>
            </a:pPr>
            <a:endParaRPr lang="en-IN" dirty="0"/>
          </a:p>
        </p:txBody>
      </p:sp>
      <p:pic>
        <p:nvPicPr>
          <p:cNvPr id="3" name="Picture 2">
            <a:extLst>
              <a:ext uri="{FF2B5EF4-FFF2-40B4-BE49-F238E27FC236}">
                <a16:creationId xmlns:a16="http://schemas.microsoft.com/office/drawing/2014/main" id="{EE75194A-8EA0-487E-531C-D602CEE646F1}"/>
              </a:ext>
            </a:extLst>
          </p:cNvPr>
          <p:cNvPicPr>
            <a:picLocks noChangeAspect="1"/>
          </p:cNvPicPr>
          <p:nvPr/>
        </p:nvPicPr>
        <p:blipFill>
          <a:blip r:embed="rId3"/>
          <a:stretch>
            <a:fillRect/>
          </a:stretch>
        </p:blipFill>
        <p:spPr>
          <a:xfrm>
            <a:off x="1992762" y="4142791"/>
            <a:ext cx="6134632" cy="2715207"/>
          </a:xfrm>
          <a:prstGeom prst="rect">
            <a:avLst/>
          </a:prstGeom>
        </p:spPr>
      </p:pic>
    </p:spTree>
    <p:extLst>
      <p:ext uri="{BB962C8B-B14F-4D97-AF65-F5344CB8AC3E}">
        <p14:creationId xmlns:p14="http://schemas.microsoft.com/office/powerpoint/2010/main" val="4258071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6A83A-C640-270E-BF13-042FFD51B92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AD52F6-401F-7379-8180-F203BDE57F5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038C5CF-A077-1D2D-0D8A-B1B9E7DED13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E67FD96-AD43-0F3E-D27D-8AA08E2BF35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8B5C0B9-708B-1577-6D5D-CEE88AC02F7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82F5191-B5AA-8106-9338-48B9DF7756ED}"/>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sp>
        <p:nvSpPr>
          <p:cNvPr id="10" name="Text Placeholder 1">
            <a:extLst>
              <a:ext uri="{FF2B5EF4-FFF2-40B4-BE49-F238E27FC236}">
                <a16:creationId xmlns:a16="http://schemas.microsoft.com/office/drawing/2014/main" id="{84064010-50E1-99AD-BC04-31EB2046F03C}"/>
              </a:ext>
            </a:extLst>
          </p:cNvPr>
          <p:cNvSpPr>
            <a:spLocks noGrp="1"/>
          </p:cNvSpPr>
          <p:nvPr>
            <p:ph type="body" sz="quarter" idx="12"/>
          </p:nvPr>
        </p:nvSpPr>
        <p:spPr>
          <a:xfrm>
            <a:off x="807163" y="1275370"/>
            <a:ext cx="9913709" cy="5582629"/>
          </a:xfrm>
        </p:spPr>
        <p:txBody>
          <a:bodyPr/>
          <a:lstStyle/>
          <a:p>
            <a:pPr marL="0" indent="0">
              <a:buNone/>
            </a:pPr>
            <a:r>
              <a:rPr lang="en-IN" b="1" dirty="0"/>
              <a:t>Chart4- Reduced Activity </a:t>
            </a:r>
          </a:p>
          <a:p>
            <a:pPr marL="0" indent="0">
              <a:buNone/>
            </a:pPr>
            <a:r>
              <a:rPr lang="en-IN" b="1" dirty="0"/>
              <a:t>Interpretation</a:t>
            </a:r>
            <a:r>
              <a:rPr lang="en-IN" dirty="0"/>
              <a:t>:</a:t>
            </a:r>
            <a:r>
              <a:rPr lang="en-US" dirty="0"/>
              <a:t> Reduced activity has a positive association with recorded doctor visits in this dataset. Further investigation is needed before drawing conclusions or changing healthcare operations.</a:t>
            </a:r>
          </a:p>
          <a:p>
            <a:pPr marL="0" indent="0">
              <a:buNone/>
            </a:pPr>
            <a:r>
              <a:rPr lang="en-IN" b="1" dirty="0"/>
              <a:t>Key findings</a:t>
            </a:r>
            <a:r>
              <a:rPr lang="en-IN" dirty="0"/>
              <a:t>:</a:t>
            </a:r>
          </a:p>
          <a:p>
            <a:r>
              <a:rPr lang="en-US" dirty="0"/>
              <a:t>Correlation between reduced activity and visits: 0.419.</a:t>
            </a:r>
          </a:p>
          <a:p>
            <a:r>
              <a:rPr lang="en-US" dirty="0"/>
              <a:t>The relationship does not prove that reduced activity causes more doctor visits.</a:t>
            </a:r>
          </a:p>
          <a:p>
            <a:pPr marL="0" indent="0">
              <a:buNone/>
            </a:pPr>
            <a:endParaRPr lang="en-US" dirty="0"/>
          </a:p>
          <a:p>
            <a:pPr marL="0" indent="0">
              <a:buNone/>
            </a:pPr>
            <a:endParaRPr lang="en-IN" dirty="0"/>
          </a:p>
          <a:p>
            <a:pPr marL="0" indent="0">
              <a:buNone/>
            </a:pPr>
            <a:endParaRPr lang="en-IN" dirty="0"/>
          </a:p>
          <a:p>
            <a:pPr marL="0" indent="0">
              <a:buNone/>
            </a:pPr>
            <a:endParaRPr lang="en-IN" dirty="0"/>
          </a:p>
        </p:txBody>
      </p:sp>
      <p:pic>
        <p:nvPicPr>
          <p:cNvPr id="6" name="Picture 5">
            <a:extLst>
              <a:ext uri="{FF2B5EF4-FFF2-40B4-BE49-F238E27FC236}">
                <a16:creationId xmlns:a16="http://schemas.microsoft.com/office/drawing/2014/main" id="{5AF0E561-62FA-350E-54BA-3D6F25E7576C}"/>
              </a:ext>
            </a:extLst>
          </p:cNvPr>
          <p:cNvPicPr>
            <a:picLocks noChangeAspect="1"/>
          </p:cNvPicPr>
          <p:nvPr/>
        </p:nvPicPr>
        <p:blipFill>
          <a:blip r:embed="rId3"/>
          <a:stretch>
            <a:fillRect/>
          </a:stretch>
        </p:blipFill>
        <p:spPr>
          <a:xfrm>
            <a:off x="2166778" y="4096140"/>
            <a:ext cx="6357256" cy="2668554"/>
          </a:xfrm>
          <a:prstGeom prst="rect">
            <a:avLst/>
          </a:prstGeom>
        </p:spPr>
      </p:pic>
    </p:spTree>
    <p:extLst>
      <p:ext uri="{BB962C8B-B14F-4D97-AF65-F5344CB8AC3E}">
        <p14:creationId xmlns:p14="http://schemas.microsoft.com/office/powerpoint/2010/main" val="554245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E4F92-776D-346F-BC7E-8FD44DFB663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EE9CED-9F2F-1EAE-EA48-41712EF124E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687C65B-248E-D5C1-A74E-0C2B8CC05D2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018F30E-7274-4682-A952-DDD6FCD0805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620DCC8-B5D5-FC55-7D6A-7DD109FD2D1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AF1288EE-07F0-59A7-3468-2B284D0E1778}"/>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sp>
        <p:nvSpPr>
          <p:cNvPr id="10" name="Text Placeholder 1">
            <a:extLst>
              <a:ext uri="{FF2B5EF4-FFF2-40B4-BE49-F238E27FC236}">
                <a16:creationId xmlns:a16="http://schemas.microsoft.com/office/drawing/2014/main" id="{A6BADF6D-7A23-BBDA-377C-B2B685A77A14}"/>
              </a:ext>
            </a:extLst>
          </p:cNvPr>
          <p:cNvSpPr>
            <a:spLocks noGrp="1"/>
          </p:cNvSpPr>
          <p:nvPr>
            <p:ph type="body" sz="quarter" idx="12"/>
          </p:nvPr>
        </p:nvSpPr>
        <p:spPr>
          <a:xfrm>
            <a:off x="578498" y="774442"/>
            <a:ext cx="9423918" cy="6083558"/>
          </a:xfrm>
        </p:spPr>
        <p:txBody>
          <a:bodyPr/>
          <a:lstStyle/>
          <a:p>
            <a:pPr marL="0" indent="0">
              <a:buNone/>
            </a:pPr>
            <a:endParaRPr lang="en-IN" dirty="0"/>
          </a:p>
          <a:p>
            <a:pPr marL="0" indent="0">
              <a:buNone/>
            </a:pPr>
            <a:r>
              <a:rPr lang="en-IN" b="1" dirty="0"/>
              <a:t>Chart 5- </a:t>
            </a:r>
            <a:r>
              <a:rPr lang="en-US" b="1" dirty="0"/>
              <a:t>Distribution of Recorded Doctor Visits</a:t>
            </a:r>
          </a:p>
          <a:p>
            <a:pPr marL="0" indent="0">
              <a:buNone/>
            </a:pPr>
            <a:r>
              <a:rPr lang="en-US" b="1" dirty="0"/>
              <a:t>Interpretation</a:t>
            </a:r>
            <a:r>
              <a:rPr lang="en-US" dirty="0"/>
              <a:t>: Most records (79.79%) have zero recorded doctor visits in this dataset.</a:t>
            </a:r>
          </a:p>
          <a:p>
            <a:pPr marL="0" indent="0">
              <a:buNone/>
            </a:pPr>
            <a:r>
              <a:rPr lang="en-IN" b="1" dirty="0"/>
              <a:t>Key findings</a:t>
            </a:r>
            <a:r>
              <a:rPr lang="en-IN" dirty="0"/>
              <a:t>:</a:t>
            </a:r>
          </a:p>
          <a:p>
            <a:r>
              <a:rPr lang="en-IN" dirty="0"/>
              <a:t>Total records: 5,190</a:t>
            </a:r>
          </a:p>
          <a:p>
            <a:r>
              <a:rPr lang="en-IN" dirty="0"/>
              <a:t>Zero recorded visits: 4,141 (79.79%)</a:t>
            </a:r>
          </a:p>
          <a:p>
            <a:r>
              <a:rPr lang="en-IN" dirty="0"/>
              <a:t>Total recorded visits: 1,566</a:t>
            </a:r>
          </a:p>
          <a:p>
            <a:endParaRPr lang="en-US" dirty="0"/>
          </a:p>
          <a:p>
            <a:pPr marL="0" indent="0">
              <a:buNone/>
            </a:pPr>
            <a:endParaRPr lang="en-IN" dirty="0"/>
          </a:p>
          <a:p>
            <a:pPr marL="0" indent="0">
              <a:buNone/>
            </a:pPr>
            <a:endParaRPr lang="en-IN" dirty="0"/>
          </a:p>
        </p:txBody>
      </p:sp>
      <p:pic>
        <p:nvPicPr>
          <p:cNvPr id="3" name="Picture 2">
            <a:extLst>
              <a:ext uri="{FF2B5EF4-FFF2-40B4-BE49-F238E27FC236}">
                <a16:creationId xmlns:a16="http://schemas.microsoft.com/office/drawing/2014/main" id="{57B24E80-825F-635F-E14C-1D8ED7293ED4}"/>
              </a:ext>
            </a:extLst>
          </p:cNvPr>
          <p:cNvPicPr>
            <a:picLocks noChangeAspect="1"/>
          </p:cNvPicPr>
          <p:nvPr/>
        </p:nvPicPr>
        <p:blipFill>
          <a:blip r:embed="rId3"/>
          <a:stretch>
            <a:fillRect/>
          </a:stretch>
        </p:blipFill>
        <p:spPr>
          <a:xfrm>
            <a:off x="1747520" y="4114800"/>
            <a:ext cx="6034212" cy="2621902"/>
          </a:xfrm>
          <a:prstGeom prst="rect">
            <a:avLst/>
          </a:prstGeom>
        </p:spPr>
      </p:pic>
    </p:spTree>
    <p:extLst>
      <p:ext uri="{BB962C8B-B14F-4D97-AF65-F5344CB8AC3E}">
        <p14:creationId xmlns:p14="http://schemas.microsoft.com/office/powerpoint/2010/main" val="3543614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1B3FD-5072-0C00-EC95-73639D9075A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6CA0F57-92C2-B465-D9AE-2B0C7DAD86D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AE1EE88-DFF9-82AE-D156-92A032271232}"/>
              </a:ext>
            </a:extLst>
          </p:cNvPr>
          <p:cNvSpPr>
            <a:spLocks noGrp="1"/>
          </p:cNvSpPr>
          <p:nvPr>
            <p:ph type="title"/>
          </p:nvPr>
        </p:nvSpPr>
        <p:spPr>
          <a:xfrm>
            <a:off x="675957" y="370589"/>
            <a:ext cx="2981643" cy="830997"/>
          </a:xfrm>
        </p:spPr>
        <p:txBody>
          <a:bodyPr>
            <a:normAutofit/>
          </a:bodyPr>
          <a:lstStyle/>
          <a:p>
            <a:r>
              <a:rPr lang="en-GB" dirty="0"/>
              <a:t>Link </a:t>
            </a:r>
            <a:endParaRPr lang="en-IN" dirty="0"/>
          </a:p>
        </p:txBody>
      </p:sp>
      <p:sp>
        <p:nvSpPr>
          <p:cNvPr id="7" name="Text Placeholder 30">
            <a:extLst>
              <a:ext uri="{FF2B5EF4-FFF2-40B4-BE49-F238E27FC236}">
                <a16:creationId xmlns:a16="http://schemas.microsoft.com/office/drawing/2014/main" id="{58F6A0DA-24D8-148F-F070-2220366813A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271F649-7B07-7A51-8155-11DBE50CA9D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10E3923-40E6-1DC7-F3B0-545BEC688A0E}"/>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sp>
        <p:nvSpPr>
          <p:cNvPr id="10" name="Text Placeholder 1">
            <a:extLst>
              <a:ext uri="{FF2B5EF4-FFF2-40B4-BE49-F238E27FC236}">
                <a16:creationId xmlns:a16="http://schemas.microsoft.com/office/drawing/2014/main" id="{7A13C0D8-2B7C-6BBE-6415-75FC99C96CB7}"/>
              </a:ext>
            </a:extLst>
          </p:cNvPr>
          <p:cNvSpPr>
            <a:spLocks noGrp="1"/>
          </p:cNvSpPr>
          <p:nvPr>
            <p:ph type="body" sz="quarter" idx="12"/>
          </p:nvPr>
        </p:nvSpPr>
        <p:spPr>
          <a:xfrm>
            <a:off x="578498" y="1201586"/>
            <a:ext cx="9423918" cy="5656413"/>
          </a:xfrm>
        </p:spPr>
        <p:txBody>
          <a:bodyPr/>
          <a:lstStyle/>
          <a:p>
            <a:pPr marL="0" indent="0">
              <a:buNone/>
            </a:pPr>
            <a:endParaRPr lang="en-IN" dirty="0"/>
          </a:p>
          <a:p>
            <a:endParaRPr lang="en-US"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3930427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27836" y="2320848"/>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endParaRPr lang="en-US" dirty="0"/>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ext Placeholder 3">
            <a:extLst>
              <a:ext uri="{FF2B5EF4-FFF2-40B4-BE49-F238E27FC236}">
                <a16:creationId xmlns:a16="http://schemas.microsoft.com/office/drawing/2014/main" id="{1FF19658-0D67-80B4-15B9-71970252ACB5}"/>
              </a:ext>
            </a:extLst>
          </p:cNvPr>
          <p:cNvSpPr>
            <a:spLocks noGrp="1"/>
          </p:cNvSpPr>
          <p:nvPr>
            <p:ph type="body" sz="quarter" idx="12"/>
          </p:nvPr>
        </p:nvSpPr>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nodePh="1">
                                  <p:stCondLst>
                                    <p:cond delay="0"/>
                                  </p:stCondLst>
                                  <p:endCondLst>
                                    <p:cond evt="begin" delay="0">
                                      <p:tn val="42"/>
                                    </p:cond>
                                  </p:end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830</TotalTime>
  <Words>580</Words>
  <Application>Microsoft Office PowerPoint</Application>
  <PresentationFormat>Widescreen</PresentationFormat>
  <Paragraphs>73</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Project Title - Healthcare Analytics For Doctor Visit TIRTC</vt:lpstr>
      <vt:lpstr>PROBLEM  STATEMENT</vt:lpstr>
      <vt:lpstr>Project Description  This project analyses healthcare data to understand patterns in recorded doctor visits. The cleaned dataset contains 5,190 records and 12 columns. Python libraries are used for data cleaning, exploratory data analysis (EDA), statistical summaries, and visualisation.  Project objective: . Understand the structure and characteristics of the dataset. . Analyse the distribution of recorded doctor visits. . Compare visit patterns across gender and illness levels. . Examine associations with chronic conditions and reduced activity.              </vt:lpstr>
      <vt:lpstr>WHO ARE THE END USERS?</vt:lpstr>
      <vt:lpstr>Technology Used</vt:lpstr>
      <vt:lpstr>RESULTS </vt:lpstr>
      <vt:lpstr>RESULTS </vt:lpstr>
      <vt:lpstr>RESULTS </vt:lpstr>
      <vt:lpstr>RESULTS </vt:lpstr>
      <vt:lpstr>RESULTS </vt:lpstr>
      <vt:lpstr>Link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Yamini Priya</cp:lastModifiedBy>
  <cp:revision>80</cp:revision>
  <dcterms:created xsi:type="dcterms:W3CDTF">2021-07-11T13:13:15Z</dcterms:created>
  <dcterms:modified xsi:type="dcterms:W3CDTF">2026-10-22T15:27:29Z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